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B3F56-87B0-F10B-230C-A44D8525E615}" v="76" dt="2025-12-01T18:16:33.847"/>
    <p1510:client id="{9948E084-6B2E-6E93-5F07-7A2517D298A4}" v="287" dt="2025-12-01T18:06:01.01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42296B-8459-493D-885D-0A9DDB14D94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5B611A-12A2-4D42-9A6F-1B0E48821BE0}">
      <dgm:prSet/>
      <dgm:spPr/>
      <dgm:t>
        <a:bodyPr/>
        <a:lstStyle/>
        <a:p>
          <a:r>
            <a:rPr lang="en-US" dirty="0"/>
            <a:t>Input: basic home features (beds, baths, size, lot) + location (city, state, ZIP) + time (month, year, season).</a:t>
          </a:r>
        </a:p>
      </dgm:t>
    </dgm:pt>
    <dgm:pt modelId="{2F39DA8A-81E7-44C4-86C7-C8FB2268CF43}" type="parTrans" cxnId="{C9789A1F-EAB3-45C5-B5E4-DB0D9A0331CE}">
      <dgm:prSet/>
      <dgm:spPr/>
      <dgm:t>
        <a:bodyPr/>
        <a:lstStyle/>
        <a:p>
          <a:endParaRPr lang="en-US"/>
        </a:p>
      </dgm:t>
    </dgm:pt>
    <dgm:pt modelId="{B0AEE003-92F4-4AED-95D5-6C621E4C5B01}" type="sibTrans" cxnId="{C9789A1F-EAB3-45C5-B5E4-DB0D9A0331CE}">
      <dgm:prSet/>
      <dgm:spPr/>
      <dgm:t>
        <a:bodyPr/>
        <a:lstStyle/>
        <a:p>
          <a:endParaRPr lang="en-US"/>
        </a:p>
      </dgm:t>
    </dgm:pt>
    <dgm:pt modelId="{4DFD9522-1547-451C-8E93-F8EEF585820B}">
      <dgm:prSet/>
      <dgm:spPr/>
      <dgm:t>
        <a:bodyPr/>
        <a:lstStyle/>
        <a:p>
          <a:r>
            <a:rPr lang="en-US" dirty="0"/>
            <a:t>Output: a single number — predicted sale price (USD).</a:t>
          </a:r>
        </a:p>
      </dgm:t>
    </dgm:pt>
    <dgm:pt modelId="{915D5C02-B2CD-4BDB-9538-6FDC0E793F66}" type="parTrans" cxnId="{5AE1CFD5-2BFD-46BF-B90C-9BCF88A9358D}">
      <dgm:prSet/>
      <dgm:spPr/>
      <dgm:t>
        <a:bodyPr/>
        <a:lstStyle/>
        <a:p>
          <a:endParaRPr lang="en-US"/>
        </a:p>
      </dgm:t>
    </dgm:pt>
    <dgm:pt modelId="{7BF7C127-16BA-41F0-B5D6-21E17486E9E7}" type="sibTrans" cxnId="{5AE1CFD5-2BFD-46BF-B90C-9BCF88A9358D}">
      <dgm:prSet/>
      <dgm:spPr/>
      <dgm:t>
        <a:bodyPr/>
        <a:lstStyle/>
        <a:p>
          <a:endParaRPr lang="en-US"/>
        </a:p>
      </dgm:t>
    </dgm:pt>
    <dgm:pt modelId="{986D6AC5-7C54-411B-A3E7-03DF95AE3DE9}">
      <dgm:prSet/>
      <dgm:spPr/>
      <dgm:t>
        <a:bodyPr/>
        <a:lstStyle/>
        <a:p>
          <a:r>
            <a:rPr lang="en-US" dirty="0"/>
            <a:t>Goal: build a leakage-free model that</a:t>
          </a:r>
        </a:p>
      </dgm:t>
    </dgm:pt>
    <dgm:pt modelId="{BE90207D-4299-47AD-9A65-7BE3BEB556C8}" type="parTrans" cxnId="{FA59388B-D2C6-41F4-9112-F2AE3AF63918}">
      <dgm:prSet/>
      <dgm:spPr/>
      <dgm:t>
        <a:bodyPr/>
        <a:lstStyle/>
        <a:p>
          <a:endParaRPr lang="en-US"/>
        </a:p>
      </dgm:t>
    </dgm:pt>
    <dgm:pt modelId="{F93E6EDF-96E9-472E-90E1-AF5A7FEC8E69}" type="sibTrans" cxnId="{FA59388B-D2C6-41F4-9112-F2AE3AF63918}">
      <dgm:prSet/>
      <dgm:spPr/>
      <dgm:t>
        <a:bodyPr/>
        <a:lstStyle/>
        <a:p>
          <a:endParaRPr lang="en-US"/>
        </a:p>
      </dgm:t>
    </dgm:pt>
    <dgm:pt modelId="{587A9472-534A-4B18-A419-9BC3EB493044}">
      <dgm:prSet/>
      <dgm:spPr/>
      <dgm:t>
        <a:bodyPr/>
        <a:lstStyle/>
        <a:p>
          <a:r>
            <a:rPr lang="en-US" dirty="0"/>
            <a:t> uses only information available at sale time,</a:t>
          </a:r>
        </a:p>
      </dgm:t>
    </dgm:pt>
    <dgm:pt modelId="{BF772EF9-F041-4B74-86AB-12DD23F8DBEA}" type="parTrans" cxnId="{E569D562-5BF3-4E7A-B933-465309981E4E}">
      <dgm:prSet/>
      <dgm:spPr/>
      <dgm:t>
        <a:bodyPr/>
        <a:lstStyle/>
        <a:p>
          <a:endParaRPr lang="en-US"/>
        </a:p>
      </dgm:t>
    </dgm:pt>
    <dgm:pt modelId="{28666F8F-3536-47AB-889F-22E422E072F4}" type="sibTrans" cxnId="{E569D562-5BF3-4E7A-B933-465309981E4E}">
      <dgm:prSet/>
      <dgm:spPr/>
      <dgm:t>
        <a:bodyPr/>
        <a:lstStyle/>
        <a:p>
          <a:endParaRPr lang="en-US"/>
        </a:p>
      </dgm:t>
    </dgm:pt>
    <dgm:pt modelId="{CE428017-51AE-4926-A5B3-42180067D793}">
      <dgm:prSet/>
      <dgm:spPr/>
      <dgm:t>
        <a:bodyPr/>
        <a:lstStyle/>
        <a:p>
          <a:r>
            <a:rPr lang="en-US" dirty="0"/>
            <a:t>beats a strong </a:t>
          </a:r>
          <a:r>
            <a:rPr lang="en-US" dirty="0" err="1"/>
            <a:t>ZIP×year</a:t>
          </a:r>
          <a:r>
            <a:rPr lang="en-US" dirty="0"/>
            <a:t> median baseline on future data</a:t>
          </a:r>
        </a:p>
      </dgm:t>
    </dgm:pt>
    <dgm:pt modelId="{8A80BD0C-03BB-4D59-97A4-36CEE6CDE336}" type="parTrans" cxnId="{5321E908-F369-49C3-AFFF-050AF6425A0A}">
      <dgm:prSet/>
      <dgm:spPr/>
      <dgm:t>
        <a:bodyPr/>
        <a:lstStyle/>
        <a:p>
          <a:endParaRPr lang="en-US"/>
        </a:p>
      </dgm:t>
    </dgm:pt>
    <dgm:pt modelId="{E4D1C47C-2186-4E08-89FD-723119B55B92}" type="sibTrans" cxnId="{5321E908-F369-49C3-AFFF-050AF6425A0A}">
      <dgm:prSet/>
      <dgm:spPr/>
      <dgm:t>
        <a:bodyPr/>
        <a:lstStyle/>
        <a:p>
          <a:endParaRPr lang="en-US"/>
        </a:p>
      </dgm:t>
    </dgm:pt>
    <dgm:pt modelId="{14BFFA18-1CFC-40D7-AB62-4A3B0AA6EBF9}" type="pres">
      <dgm:prSet presAssocID="{2B42296B-8459-493D-885D-0A9DDB14D942}" presName="Name0" presStyleCnt="0">
        <dgm:presLayoutVars>
          <dgm:dir/>
          <dgm:resizeHandles val="exact"/>
        </dgm:presLayoutVars>
      </dgm:prSet>
      <dgm:spPr/>
    </dgm:pt>
    <dgm:pt modelId="{4014D0E5-BB97-4C66-B3A0-703747DBB06E}" type="pres">
      <dgm:prSet presAssocID="{C05B611A-12A2-4D42-9A6F-1B0E48821BE0}" presName="node" presStyleLbl="node1" presStyleIdx="0" presStyleCnt="3">
        <dgm:presLayoutVars>
          <dgm:bulletEnabled val="1"/>
        </dgm:presLayoutVars>
      </dgm:prSet>
      <dgm:spPr/>
    </dgm:pt>
    <dgm:pt modelId="{42915F10-F787-4CDC-A910-16F9C33715C0}" type="pres">
      <dgm:prSet presAssocID="{B0AEE003-92F4-4AED-95D5-6C621E4C5B01}" presName="sibTrans" presStyleLbl="sibTrans1D1" presStyleIdx="0" presStyleCnt="2"/>
      <dgm:spPr/>
    </dgm:pt>
    <dgm:pt modelId="{B3A7A1C2-166D-452E-BBAF-238716AC0C6B}" type="pres">
      <dgm:prSet presAssocID="{B0AEE003-92F4-4AED-95D5-6C621E4C5B01}" presName="connectorText" presStyleLbl="sibTrans1D1" presStyleIdx="0" presStyleCnt="2"/>
      <dgm:spPr/>
    </dgm:pt>
    <dgm:pt modelId="{23DE8F5F-49D0-4656-8A54-E45BCFB7079B}" type="pres">
      <dgm:prSet presAssocID="{4DFD9522-1547-451C-8E93-F8EEF585820B}" presName="node" presStyleLbl="node1" presStyleIdx="1" presStyleCnt="3">
        <dgm:presLayoutVars>
          <dgm:bulletEnabled val="1"/>
        </dgm:presLayoutVars>
      </dgm:prSet>
      <dgm:spPr/>
    </dgm:pt>
    <dgm:pt modelId="{5CEA5C5E-37E9-4C7A-BBD5-69ED4054B937}" type="pres">
      <dgm:prSet presAssocID="{7BF7C127-16BA-41F0-B5D6-21E17486E9E7}" presName="sibTrans" presStyleLbl="sibTrans1D1" presStyleIdx="1" presStyleCnt="2"/>
      <dgm:spPr/>
    </dgm:pt>
    <dgm:pt modelId="{6EB07CD6-9E2C-4DF6-9208-A2165E7F7AAB}" type="pres">
      <dgm:prSet presAssocID="{7BF7C127-16BA-41F0-B5D6-21E17486E9E7}" presName="connectorText" presStyleLbl="sibTrans1D1" presStyleIdx="1" presStyleCnt="2"/>
      <dgm:spPr/>
    </dgm:pt>
    <dgm:pt modelId="{6EE03531-8314-4994-9FDD-59E6E3458D36}" type="pres">
      <dgm:prSet presAssocID="{986D6AC5-7C54-411B-A3E7-03DF95AE3DE9}" presName="node" presStyleLbl="node1" presStyleIdx="2" presStyleCnt="3">
        <dgm:presLayoutVars>
          <dgm:bulletEnabled val="1"/>
        </dgm:presLayoutVars>
      </dgm:prSet>
      <dgm:spPr/>
    </dgm:pt>
  </dgm:ptLst>
  <dgm:cxnLst>
    <dgm:cxn modelId="{5321E908-F369-49C3-AFFF-050AF6425A0A}" srcId="{986D6AC5-7C54-411B-A3E7-03DF95AE3DE9}" destId="{CE428017-51AE-4926-A5B3-42180067D793}" srcOrd="1" destOrd="0" parTransId="{8A80BD0C-03BB-4D59-97A4-36CEE6CDE336}" sibTransId="{E4D1C47C-2186-4E08-89FD-723119B55B92}"/>
    <dgm:cxn modelId="{804A291E-4014-4600-9F17-31A82A243F85}" type="presOf" srcId="{587A9472-534A-4B18-A419-9BC3EB493044}" destId="{6EE03531-8314-4994-9FDD-59E6E3458D36}" srcOrd="0" destOrd="1" presId="urn:microsoft.com/office/officeart/2016/7/layout/RepeatingBendingProcessNew"/>
    <dgm:cxn modelId="{C9789A1F-EAB3-45C5-B5E4-DB0D9A0331CE}" srcId="{2B42296B-8459-493D-885D-0A9DDB14D942}" destId="{C05B611A-12A2-4D42-9A6F-1B0E48821BE0}" srcOrd="0" destOrd="0" parTransId="{2F39DA8A-81E7-44C4-86C7-C8FB2268CF43}" sibTransId="{B0AEE003-92F4-4AED-95D5-6C621E4C5B01}"/>
    <dgm:cxn modelId="{00BBA632-8DE0-4D29-B0E5-966FD7AB6BE1}" type="presOf" srcId="{986D6AC5-7C54-411B-A3E7-03DF95AE3DE9}" destId="{6EE03531-8314-4994-9FDD-59E6E3458D36}" srcOrd="0" destOrd="0" presId="urn:microsoft.com/office/officeart/2016/7/layout/RepeatingBendingProcessNew"/>
    <dgm:cxn modelId="{E569D562-5BF3-4E7A-B933-465309981E4E}" srcId="{986D6AC5-7C54-411B-A3E7-03DF95AE3DE9}" destId="{587A9472-534A-4B18-A419-9BC3EB493044}" srcOrd="0" destOrd="0" parTransId="{BF772EF9-F041-4B74-86AB-12DD23F8DBEA}" sibTransId="{28666F8F-3536-47AB-889F-22E422E072F4}"/>
    <dgm:cxn modelId="{30425B6D-2546-47BF-8385-91334D7E39BA}" type="presOf" srcId="{B0AEE003-92F4-4AED-95D5-6C621E4C5B01}" destId="{42915F10-F787-4CDC-A910-16F9C33715C0}" srcOrd="0" destOrd="0" presId="urn:microsoft.com/office/officeart/2016/7/layout/RepeatingBendingProcessNew"/>
    <dgm:cxn modelId="{FA59388B-D2C6-41F4-9112-F2AE3AF63918}" srcId="{2B42296B-8459-493D-885D-0A9DDB14D942}" destId="{986D6AC5-7C54-411B-A3E7-03DF95AE3DE9}" srcOrd="2" destOrd="0" parTransId="{BE90207D-4299-47AD-9A65-7BE3BEB556C8}" sibTransId="{F93E6EDF-96E9-472E-90E1-AF5A7FEC8E69}"/>
    <dgm:cxn modelId="{C7303896-B3D5-462A-8114-F80894971018}" type="presOf" srcId="{7BF7C127-16BA-41F0-B5D6-21E17486E9E7}" destId="{5CEA5C5E-37E9-4C7A-BBD5-69ED4054B937}" srcOrd="0" destOrd="0" presId="urn:microsoft.com/office/officeart/2016/7/layout/RepeatingBendingProcessNew"/>
    <dgm:cxn modelId="{B6FAE696-788B-4F05-B70F-D2F3BB0DA9E0}" type="presOf" srcId="{B0AEE003-92F4-4AED-95D5-6C621E4C5B01}" destId="{B3A7A1C2-166D-452E-BBAF-238716AC0C6B}" srcOrd="1" destOrd="0" presId="urn:microsoft.com/office/officeart/2016/7/layout/RepeatingBendingProcessNew"/>
    <dgm:cxn modelId="{5F1A0DA2-2F0F-4DD7-A8E8-8971AEABC0DB}" type="presOf" srcId="{4DFD9522-1547-451C-8E93-F8EEF585820B}" destId="{23DE8F5F-49D0-4656-8A54-E45BCFB7079B}" srcOrd="0" destOrd="0" presId="urn:microsoft.com/office/officeart/2016/7/layout/RepeatingBendingProcessNew"/>
    <dgm:cxn modelId="{DE4F0EB6-A87B-4B4B-8B79-06993090612B}" type="presOf" srcId="{2B42296B-8459-493D-885D-0A9DDB14D942}" destId="{14BFFA18-1CFC-40D7-AB62-4A3B0AA6EBF9}" srcOrd="0" destOrd="0" presId="urn:microsoft.com/office/officeart/2016/7/layout/RepeatingBendingProcessNew"/>
    <dgm:cxn modelId="{98892EC6-4837-40DD-98C4-E63ECFC9B976}" type="presOf" srcId="{C05B611A-12A2-4D42-9A6F-1B0E48821BE0}" destId="{4014D0E5-BB97-4C66-B3A0-703747DBB06E}" srcOrd="0" destOrd="0" presId="urn:microsoft.com/office/officeart/2016/7/layout/RepeatingBendingProcessNew"/>
    <dgm:cxn modelId="{5AE1CFD5-2BFD-46BF-B90C-9BCF88A9358D}" srcId="{2B42296B-8459-493D-885D-0A9DDB14D942}" destId="{4DFD9522-1547-451C-8E93-F8EEF585820B}" srcOrd="1" destOrd="0" parTransId="{915D5C02-B2CD-4BDB-9538-6FDC0E793F66}" sibTransId="{7BF7C127-16BA-41F0-B5D6-21E17486E9E7}"/>
    <dgm:cxn modelId="{12DC3DDE-25D0-4455-82F6-86CDA8DA5734}" type="presOf" srcId="{CE428017-51AE-4926-A5B3-42180067D793}" destId="{6EE03531-8314-4994-9FDD-59E6E3458D36}" srcOrd="0" destOrd="2" presId="urn:microsoft.com/office/officeart/2016/7/layout/RepeatingBendingProcessNew"/>
    <dgm:cxn modelId="{CB2FA4F2-1398-4D29-89DA-46B4CAD29FF0}" type="presOf" srcId="{7BF7C127-16BA-41F0-B5D6-21E17486E9E7}" destId="{6EB07CD6-9E2C-4DF6-9208-A2165E7F7AAB}" srcOrd="1" destOrd="0" presId="urn:microsoft.com/office/officeart/2016/7/layout/RepeatingBendingProcessNew"/>
    <dgm:cxn modelId="{9247B4FC-8492-4F9A-B6AA-3BC186E22F8F}" type="presParOf" srcId="{14BFFA18-1CFC-40D7-AB62-4A3B0AA6EBF9}" destId="{4014D0E5-BB97-4C66-B3A0-703747DBB06E}" srcOrd="0" destOrd="0" presId="urn:microsoft.com/office/officeart/2016/7/layout/RepeatingBendingProcessNew"/>
    <dgm:cxn modelId="{0C58B93D-1EF2-4B6A-B6FE-4B9D543E2AB5}" type="presParOf" srcId="{14BFFA18-1CFC-40D7-AB62-4A3B0AA6EBF9}" destId="{42915F10-F787-4CDC-A910-16F9C33715C0}" srcOrd="1" destOrd="0" presId="urn:microsoft.com/office/officeart/2016/7/layout/RepeatingBendingProcessNew"/>
    <dgm:cxn modelId="{063ADEAB-96D2-43F8-A839-C9CF53BD7434}" type="presParOf" srcId="{42915F10-F787-4CDC-A910-16F9C33715C0}" destId="{B3A7A1C2-166D-452E-BBAF-238716AC0C6B}" srcOrd="0" destOrd="0" presId="urn:microsoft.com/office/officeart/2016/7/layout/RepeatingBendingProcessNew"/>
    <dgm:cxn modelId="{EEAFB683-3DCB-4926-8163-0605A344CDE9}" type="presParOf" srcId="{14BFFA18-1CFC-40D7-AB62-4A3B0AA6EBF9}" destId="{23DE8F5F-49D0-4656-8A54-E45BCFB7079B}" srcOrd="2" destOrd="0" presId="urn:microsoft.com/office/officeart/2016/7/layout/RepeatingBendingProcessNew"/>
    <dgm:cxn modelId="{39DC8B47-D51C-4F3A-A462-0DC4967DCD96}" type="presParOf" srcId="{14BFFA18-1CFC-40D7-AB62-4A3B0AA6EBF9}" destId="{5CEA5C5E-37E9-4C7A-BBD5-69ED4054B937}" srcOrd="3" destOrd="0" presId="urn:microsoft.com/office/officeart/2016/7/layout/RepeatingBendingProcessNew"/>
    <dgm:cxn modelId="{170CA6F9-0BE4-47B4-8A85-D28B27E25EC0}" type="presParOf" srcId="{5CEA5C5E-37E9-4C7A-BBD5-69ED4054B937}" destId="{6EB07CD6-9E2C-4DF6-9208-A2165E7F7AAB}" srcOrd="0" destOrd="0" presId="urn:microsoft.com/office/officeart/2016/7/layout/RepeatingBendingProcessNew"/>
    <dgm:cxn modelId="{06A202C1-9F9C-49F8-A50A-27750A7AF6EC}" type="presParOf" srcId="{14BFFA18-1CFC-40D7-AB62-4A3B0AA6EBF9}" destId="{6EE03531-8314-4994-9FDD-59E6E3458D36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15F10-F787-4CDC-A910-16F9C33715C0}">
      <dsp:nvSpPr>
        <dsp:cNvPr id="0" name=""/>
        <dsp:cNvSpPr/>
      </dsp:nvSpPr>
      <dsp:spPr>
        <a:xfrm>
          <a:off x="3385197" y="785309"/>
          <a:ext cx="60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607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72317" y="827845"/>
        <a:ext cx="31833" cy="6366"/>
      </dsp:txXfrm>
    </dsp:sp>
    <dsp:sp modelId="{4014D0E5-BB97-4C66-B3A0-703747DBB06E}">
      <dsp:nvSpPr>
        <dsp:cNvPr id="0" name=""/>
        <dsp:cNvSpPr/>
      </dsp:nvSpPr>
      <dsp:spPr>
        <a:xfrm>
          <a:off x="618852" y="585"/>
          <a:ext cx="2768145" cy="16608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41" tIns="142380" rIns="135641" bIns="1423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Input: basic home features (beds, baths, size, lot) + location (city, state, ZIP) + time (month, year, season).</a:t>
          </a:r>
        </a:p>
      </dsp:txBody>
      <dsp:txXfrm>
        <a:off x="618852" y="585"/>
        <a:ext cx="2768145" cy="1660887"/>
      </dsp:txXfrm>
    </dsp:sp>
    <dsp:sp modelId="{5CEA5C5E-37E9-4C7A-BBD5-69ED4054B937}">
      <dsp:nvSpPr>
        <dsp:cNvPr id="0" name=""/>
        <dsp:cNvSpPr/>
      </dsp:nvSpPr>
      <dsp:spPr>
        <a:xfrm>
          <a:off x="2002925" y="1659672"/>
          <a:ext cx="3404818" cy="606073"/>
        </a:xfrm>
        <a:custGeom>
          <a:avLst/>
          <a:gdLst/>
          <a:ahLst/>
          <a:cxnLst/>
          <a:rect l="0" t="0" r="0" b="0"/>
          <a:pathLst>
            <a:path>
              <a:moveTo>
                <a:pt x="3404818" y="0"/>
              </a:moveTo>
              <a:lnTo>
                <a:pt x="3404818" y="320136"/>
              </a:lnTo>
              <a:lnTo>
                <a:pt x="0" y="320136"/>
              </a:lnTo>
              <a:lnTo>
                <a:pt x="0" y="60607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18738" y="1959526"/>
        <a:ext cx="173191" cy="6366"/>
      </dsp:txXfrm>
    </dsp:sp>
    <dsp:sp modelId="{23DE8F5F-49D0-4656-8A54-E45BCFB7079B}">
      <dsp:nvSpPr>
        <dsp:cNvPr id="0" name=""/>
        <dsp:cNvSpPr/>
      </dsp:nvSpPr>
      <dsp:spPr>
        <a:xfrm>
          <a:off x="4023671" y="585"/>
          <a:ext cx="2768145" cy="16608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41" tIns="142380" rIns="135641" bIns="1423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Output: a single number — predicted sale price (USD).</a:t>
          </a:r>
        </a:p>
      </dsp:txBody>
      <dsp:txXfrm>
        <a:off x="4023671" y="585"/>
        <a:ext cx="2768145" cy="1660887"/>
      </dsp:txXfrm>
    </dsp:sp>
    <dsp:sp modelId="{6EE03531-8314-4994-9FDD-59E6E3458D36}">
      <dsp:nvSpPr>
        <dsp:cNvPr id="0" name=""/>
        <dsp:cNvSpPr/>
      </dsp:nvSpPr>
      <dsp:spPr>
        <a:xfrm>
          <a:off x="618852" y="2298146"/>
          <a:ext cx="2768145" cy="16608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641" tIns="142380" rIns="135641" bIns="14238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Goal: build a leakage-free model that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 uses only information available at sale time,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beats a strong </a:t>
          </a:r>
          <a:r>
            <a:rPr lang="en-US" sz="1300" kern="1200" dirty="0" err="1"/>
            <a:t>ZIP×year</a:t>
          </a:r>
          <a:r>
            <a:rPr lang="en-US" sz="1300" kern="1200" dirty="0"/>
            <a:t> median baseline on future data</a:t>
          </a:r>
        </a:p>
      </dsp:txBody>
      <dsp:txXfrm>
        <a:off x="618852" y="2298146"/>
        <a:ext cx="2768145" cy="1660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USA Real Estate Price Prediction</a:t>
            </a:r>
            <a:endParaRPr lang="en-US" sz="6300">
              <a:ea typeface="Calibri"/>
              <a:cs typeface="Calibri"/>
            </a:endParaRPr>
          </a:p>
          <a:p>
            <a:endParaRPr lang="en-US" sz="630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100"/>
              <a:t>CS 542 — Machine Learning Project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100"/>
              <a:t>USA Real Estate</a:t>
            </a:r>
            <a:endParaRPr lang="en-US" sz="11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2200"/>
            </a:pPr>
            <a:r>
              <a:rPr lang="en-US" sz="1100"/>
              <a:t>Presenter: Group 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Project Goal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A70607F-3160-1F5E-B378-F8FDB7B98F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6661" y="2217343"/>
          <a:ext cx="7410669" cy="395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Data Used — USA Real Estate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Single CSV: data/raw/usa_real_estate.csv with residential sales across the U.S.</a:t>
            </a:r>
          </a:p>
          <a:p>
            <a:pPr>
              <a:lnSpc>
                <a:spcPct val="90000"/>
              </a:lnSpc>
            </a:pPr>
            <a:r>
              <a:rPr lang="en-US" sz="1400"/>
              <a:t>Includes sold date, listing price, home characteristics, and location (city, state, ZIP).</a:t>
            </a:r>
          </a:p>
          <a:p>
            <a:pPr>
              <a:lnSpc>
                <a:spcPct val="90000"/>
              </a:lnSpc>
            </a:pPr>
            <a:r>
              <a:rPr lang="en-US" sz="1400"/>
              <a:t>Observed sale dates span 1901-01-01 to 2026-04-08.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447521"/>
              </p:ext>
            </p:extLst>
          </p:nvPr>
        </p:nvGraphicFramePr>
        <p:xfrm>
          <a:off x="418338" y="2778940"/>
          <a:ext cx="8373619" cy="3394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0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Quantity</a:t>
                      </a:r>
                    </a:p>
                  </a:txBody>
                  <a:tcPr marL="145461" marR="145461" marT="72731" marB="72731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Value</a:t>
                      </a:r>
                    </a:p>
                  </a:txBody>
                  <a:tcPr marL="145461" marR="145461" marT="72731" marB="727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46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Total labeled sales (train + </a:t>
                      </a:r>
                      <a:r>
                        <a:rPr lang="en-US" sz="2200" dirty="0" err="1"/>
                        <a:t>val</a:t>
                      </a:r>
                      <a:r>
                        <a:rPr lang="en-US" sz="2200" dirty="0"/>
                        <a:t> + test)</a:t>
                      </a:r>
                    </a:p>
                  </a:txBody>
                  <a:tcPr marL="145461" marR="145461" marT="72731" marB="72731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510,732</a:t>
                      </a:r>
                    </a:p>
                  </a:txBody>
                  <a:tcPr marL="145461" marR="145461" marT="72731" marB="727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0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Train / Val / Test rows</a:t>
                      </a:r>
                    </a:p>
                  </a:txBody>
                  <a:tcPr marL="145461" marR="145461" marT="72731" marB="72731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50,000 / 460,233 / 499</a:t>
                      </a:r>
                    </a:p>
                  </a:txBody>
                  <a:tcPr marL="145461" marR="145461" marT="72731" marB="727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05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Date window</a:t>
                      </a:r>
                    </a:p>
                  </a:txBody>
                  <a:tcPr marL="145461" marR="145461" marT="72731" marB="72731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1901-01-01 → 2026-04-08</a:t>
                      </a:r>
                    </a:p>
                  </a:txBody>
                  <a:tcPr marL="145461" marR="145461" marT="72731" marB="727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46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 dirty="0"/>
                        <a:t>Features</a:t>
                      </a:r>
                    </a:p>
                  </a:txBody>
                  <a:tcPr marL="145461" marR="145461" marT="72731" marB="72731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2200"/>
                        <a:t>14 columns (numeric + categorical + time-features)</a:t>
                      </a:r>
                    </a:p>
                  </a:txBody>
                  <a:tcPr marL="145461" marR="145461" marT="72731" marB="727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Leakage-Safe Train–Val–Test Split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Temporal split by sold_date.year to mimic train-on-past, test-on-future.</a:t>
            </a:r>
          </a:p>
          <a:p>
            <a:pPr>
              <a:lnSpc>
                <a:spcPct val="90000"/>
              </a:lnSpc>
            </a:pPr>
            <a:r>
              <a:rPr lang="en-US" sz="1400"/>
              <a:t>Training subset limited to 50,000 rows (≤ 2021) to keep runtime ≈15–20 minutes.</a:t>
            </a:r>
          </a:p>
          <a:p>
            <a:pPr>
              <a:lnSpc>
                <a:spcPct val="90000"/>
              </a:lnSpc>
            </a:pPr>
            <a:r>
              <a:rPr lang="en-US" sz="1400"/>
              <a:t>No 2023+ rows used in training or validation — test genuinely represents future sales.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391065"/>
              </p:ext>
            </p:extLst>
          </p:nvPr>
        </p:nvGraphicFramePr>
        <p:xfrm>
          <a:off x="1376861" y="2734056"/>
          <a:ext cx="6456574" cy="348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0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048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Split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Years (</a:t>
                      </a:r>
                      <a:r>
                        <a:rPr lang="en-US" sz="1800" dirty="0" err="1"/>
                        <a:t>sold_date.year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# Rows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Purpose</a:t>
                      </a:r>
                    </a:p>
                  </a:txBody>
                  <a:tcPr marL="120410" marR="120410" marT="60205" marB="602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44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Train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≤ 2021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50,000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Fit model, feature engineering, calibration</a:t>
                      </a:r>
                    </a:p>
                  </a:txBody>
                  <a:tcPr marL="120410" marR="120410" marT="60205" marB="602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44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Val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2022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460,233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Hyperparameter tuning, model selection</a:t>
                      </a:r>
                    </a:p>
                  </a:txBody>
                  <a:tcPr marL="120410" marR="120410" marT="60205" marB="602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48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Test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≥ 2023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499</a:t>
                      </a:r>
                    </a:p>
                  </a:txBody>
                  <a:tcPr marL="120410" marR="120410" marT="60205" marB="60205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800" dirty="0"/>
                        <a:t>Final unseen evaluation</a:t>
                      </a:r>
                    </a:p>
                  </a:txBody>
                  <a:tcPr marL="120410" marR="120410" marT="60205" marB="6020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anchor="b">
            <a:normAutofit/>
          </a:bodyPr>
          <a:lstStyle/>
          <a:p>
            <a:r>
              <a:rPr lang="en-US" sz="4200"/>
              <a:t>Features and 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4821" y="2599509"/>
            <a:ext cx="3398174" cy="36394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 sz="1300"/>
              <a:t>Features: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• Raw: bed, bath, house_size, acre_lot, city, state, zip_code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• Engineered: log_house_size, lot_per_size, bed_per_bath, month, year, season</a:t>
            </a:r>
          </a:p>
          <a:p>
            <a:pPr>
              <a:lnSpc>
                <a:spcPct val="90000"/>
              </a:lnSpc>
            </a:pPr>
            <a:r>
              <a:rPr lang="en-US" sz="1300"/>
              <a:t>Target handling: log10(price) during training, Duan smearing to report errors in dollars.</a:t>
            </a:r>
          </a:p>
          <a:p>
            <a:pPr>
              <a:lnSpc>
                <a:spcPct val="90000"/>
              </a:lnSpc>
            </a:pPr>
            <a:r>
              <a:rPr lang="en-US" sz="1300"/>
              <a:t>Models compared: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• Baseline: ZIP×year median price (lookup)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• Ridge regression: linear baseline with L2 regularization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• XGBoost: gradient-boosted trees on processed features (final model)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514612"/>
              </p:ext>
            </p:extLst>
          </p:nvPr>
        </p:nvGraphicFramePr>
        <p:xfrm>
          <a:off x="476471" y="3317422"/>
          <a:ext cx="3862710" cy="2128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51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Model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dirty="0"/>
                        <a:t>Type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Notes</a:t>
                      </a:r>
                    </a:p>
                  </a:txBody>
                  <a:tcPr marL="87726" marR="87726" marT="43863" marB="4386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Baseline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 err="1"/>
                        <a:t>ZIP×year</a:t>
                      </a:r>
                      <a:r>
                        <a:rPr lang="en-US" sz="1300" dirty="0"/>
                        <a:t> median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No learning, simple lookup</a:t>
                      </a:r>
                    </a:p>
                  </a:txBody>
                  <a:tcPr marL="87726" marR="87726" marT="43863" marB="438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20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Ridge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Linear regression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Fast, regularized baseline</a:t>
                      </a:r>
                    </a:p>
                  </a:txBody>
                  <a:tcPr marL="87726" marR="87726" marT="43863" marB="438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90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 err="1"/>
                        <a:t>XGBoost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Boosted trees</a:t>
                      </a:r>
                    </a:p>
                  </a:txBody>
                  <a:tcPr marL="87726" marR="87726" marT="43863" marB="4386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n-US" sz="1300" dirty="0"/>
                        <a:t>Handles non-linear patterns, best overall</a:t>
                      </a:r>
                    </a:p>
                  </a:txBody>
                  <a:tcPr marL="87726" marR="87726" marT="43863" marB="438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Results — Model Performance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Metrics computed on dollars after inverting the log-price transform.</a:t>
            </a:r>
          </a:p>
          <a:p>
            <a:pPr>
              <a:lnSpc>
                <a:spcPct val="90000"/>
              </a:lnSpc>
            </a:pPr>
            <a:r>
              <a:rPr lang="en-US" sz="1600"/>
              <a:t>XGBoost clearly improves MAE/RMSE over the ZIP×year median baseline on future (2023+) data.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51254"/>
              </p:ext>
            </p:extLst>
          </p:nvPr>
        </p:nvGraphicFramePr>
        <p:xfrm>
          <a:off x="1224560" y="2734056"/>
          <a:ext cx="6761175" cy="348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9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27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Model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Split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MAE (USD)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RMSE (USD)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R²</a:t>
                      </a:r>
                    </a:p>
                  </a:txBody>
                  <a:tcPr marL="115871" marR="115871" marT="57936" marB="579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3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 err="1"/>
                        <a:t>ZIP×year</a:t>
                      </a:r>
                      <a:r>
                        <a:rPr lang="en-US" sz="1600" dirty="0"/>
                        <a:t> baseline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Val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203,927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449,076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0.369</a:t>
                      </a:r>
                    </a:p>
                  </a:txBody>
                  <a:tcPr marL="115871" marR="115871" marT="57936" marB="579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3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 err="1"/>
                        <a:t>ZIP×year</a:t>
                      </a:r>
                      <a:r>
                        <a:rPr lang="en-US" sz="1600" dirty="0"/>
                        <a:t> baseline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Test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145,897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279,284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0.177</a:t>
                      </a:r>
                    </a:p>
                  </a:txBody>
                  <a:tcPr marL="115871" marR="115871" marT="57936" marB="579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3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Ridge regression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Val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204,111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1,928,055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-10.639</a:t>
                      </a:r>
                    </a:p>
                  </a:txBody>
                  <a:tcPr marL="115871" marR="115871" marT="57936" marB="579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3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Ridge regression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Test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120,144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191,177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0.614</a:t>
                      </a:r>
                    </a:p>
                  </a:txBody>
                  <a:tcPr marL="115871" marR="115871" marT="57936" marB="579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27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 err="1"/>
                        <a:t>XGBoost</a:t>
                      </a:r>
                      <a:r>
                        <a:rPr lang="en-US" sz="1600" dirty="0"/>
                        <a:t> (final)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600" dirty="0"/>
                        <a:t>Test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115,261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184,728</a:t>
                      </a:r>
                    </a:p>
                  </a:txBody>
                  <a:tcPr marL="115871" marR="115871" marT="57936" marB="57936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dirty="0"/>
                        <a:t>0.640</a:t>
                      </a:r>
                    </a:p>
                  </a:txBody>
                  <a:tcPr marL="115871" marR="115871" marT="57936" marB="579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C2AEA-3F09-12AC-BD64-6578F380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52D88F-1F91-5615-38A8-369DA9F4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5A152A-4181-96B8-5CA2-72A12887D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47BF4-97BA-247D-569F-A6AB858B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 dirty="0"/>
              <a:t>Diagnostic Plots — Clarity and Reliability</a:t>
            </a:r>
            <a:endParaRPr lang="en-US" sz="2800" dirty="0" err="1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2C081F-1141-F919-69DF-F3B5D21F5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64E1FA-BFAF-A345-7C09-AA399770B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B0A9-CA21-B4B8-9931-D58F79A2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73" y="644331"/>
            <a:ext cx="4329449" cy="1459015"/>
          </a:xfrm>
        </p:spPr>
        <p:txBody>
          <a:bodyPr anchor="ctr">
            <a:normAutofit fontScale="47500" lnSpcReduction="20000"/>
          </a:bodyPr>
          <a:lstStyle/>
          <a:p>
            <a:endParaRPr lang="en-US" sz="1600" dirty="0">
              <a:ea typeface="Calibri"/>
              <a:cs typeface="Calibri"/>
            </a:endParaRPr>
          </a:p>
          <a:p>
            <a:r>
              <a:rPr lang="en-US" dirty="0"/>
              <a:t>We use three plots to understand </a:t>
            </a:r>
            <a:r>
              <a:rPr lang="en-US" dirty="0" err="1"/>
              <a:t>behaviorand</a:t>
            </a:r>
            <a:r>
              <a:rPr lang="en-US" dirty="0"/>
              <a:t> reliability:</a:t>
            </a:r>
          </a:p>
          <a:p>
            <a:pPr lvl="1"/>
            <a:r>
              <a:rPr lang="en-US" dirty="0"/>
              <a:t>• Predicted vs actual price scatter</a:t>
            </a:r>
          </a:p>
          <a:p>
            <a:pPr lvl="1"/>
            <a:r>
              <a:rPr lang="en-US" dirty="0"/>
              <a:t>• Residuals vs true price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• Calibration curve (bin-wise mean prediction </a:t>
            </a:r>
            <a:r>
              <a:rPr lang="en-US" dirty="0" err="1"/>
              <a:t>vsmean</a:t>
            </a:r>
            <a:r>
              <a:rPr lang="en-US" dirty="0"/>
              <a:t> truth)</a:t>
            </a:r>
          </a:p>
          <a:p>
            <a:pPr>
              <a:lnSpc>
                <a:spcPct val="90000"/>
              </a:lnSpc>
            </a:pP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6" name="Picture 5" descr="pred_vs_actual.png">
            <a:extLst>
              <a:ext uri="{FF2B5EF4-FFF2-40B4-BE49-F238E27FC236}">
                <a16:creationId xmlns:a16="http://schemas.microsoft.com/office/drawing/2014/main" id="{A7CAF7F5-E89E-3AFC-20E6-24FB1C153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9" y="2684505"/>
            <a:ext cx="3018300" cy="2258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6995F1-24DA-BF48-8449-0EBFEFC6CB7B}"/>
              </a:ext>
            </a:extLst>
          </p:cNvPr>
          <p:cNvSpPr txBox="1"/>
          <p:nvPr/>
        </p:nvSpPr>
        <p:spPr>
          <a:xfrm>
            <a:off x="272003" y="493297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lang="en-US"/>
              <a:t>Predicted vs Actual</a:t>
            </a:r>
          </a:p>
        </p:txBody>
      </p:sp>
      <p:pic>
        <p:nvPicPr>
          <p:cNvPr id="12" name="Picture 11" descr="residuals_vs_price.png">
            <a:extLst>
              <a:ext uri="{FF2B5EF4-FFF2-40B4-BE49-F238E27FC236}">
                <a16:creationId xmlns:a16="http://schemas.microsoft.com/office/drawing/2014/main" id="{98599927-8204-B321-64A4-C231B87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481" y="2663029"/>
            <a:ext cx="3131477" cy="22811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79FBE1-258D-6582-119F-1A6539B8AD11}"/>
              </a:ext>
            </a:extLst>
          </p:cNvPr>
          <p:cNvSpPr txBox="1"/>
          <p:nvPr/>
        </p:nvSpPr>
        <p:spPr>
          <a:xfrm>
            <a:off x="3361247" y="4942423"/>
            <a:ext cx="27998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rPr lang="en-US"/>
              <a:t>Residuals vs Price</a:t>
            </a:r>
          </a:p>
        </p:txBody>
      </p:sp>
      <p:pic>
        <p:nvPicPr>
          <p:cNvPr id="18" name="Picture 17" descr="calibration_curve.png">
            <a:extLst>
              <a:ext uri="{FF2B5EF4-FFF2-40B4-BE49-F238E27FC236}">
                <a16:creationId xmlns:a16="http://schemas.microsoft.com/office/drawing/2014/main" id="{666A4C90-D885-CFAB-C626-5EEBF07AB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65" y="2676395"/>
            <a:ext cx="2894341" cy="22557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DBB906-0FEF-C814-7DE0-32F68C60D74E}"/>
              </a:ext>
            </a:extLst>
          </p:cNvPr>
          <p:cNvSpPr txBox="1"/>
          <p:nvPr/>
        </p:nvSpPr>
        <p:spPr>
          <a:xfrm>
            <a:off x="6413151" y="4948037"/>
            <a:ext cx="27324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rPr lang="en-US"/>
              <a:t>Calibration Curve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0BA2CF1-02FF-7AC3-56D3-6CDA1DB88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954212"/>
              </p:ext>
            </p:extLst>
          </p:nvPr>
        </p:nvGraphicFramePr>
        <p:xfrm>
          <a:off x="1463926" y="5300431"/>
          <a:ext cx="622853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4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# calibration bins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Test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Relative 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lang="en-US" sz="1600" dirty="0"/>
                        <a:t>0.079 ≈ 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79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Error Slices and Interpretability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We analyze error slices by (state, ZIP) on the test set to see where the model struggles.</a:t>
            </a:r>
          </a:p>
          <a:p>
            <a:pPr>
              <a:lnSpc>
                <a:spcPct val="90000"/>
              </a:lnSpc>
            </a:pPr>
            <a:r>
              <a:rPr lang="en-US" sz="1600"/>
              <a:t>Example: Several Idaho ZIP codes still have six-figure MAE, which is expected in a noisy market but highlights room for improvement.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8338" y="3028557"/>
          <a:ext cx="8373620" cy="289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6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99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State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ZIP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# Test Homes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MAE (USD)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RMSE (USD)</a:t>
                      </a:r>
                    </a:p>
                  </a:txBody>
                  <a:tcPr marL="176158" marR="176158" marT="88079" marB="880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9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Idaho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83669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37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152,297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181,461</a:t>
                      </a:r>
                    </a:p>
                  </a:txBody>
                  <a:tcPr marL="176158" marR="176158" marT="88079" marB="880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29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Idaho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83607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48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119,813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185,756</a:t>
                      </a:r>
                    </a:p>
                  </a:txBody>
                  <a:tcPr marL="176158" marR="176158" marT="88079" marB="880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29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Idaho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83651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35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113,434</a:t>
                      </a:r>
                    </a:p>
                  </a:txBody>
                  <a:tcPr marL="176158" marR="176158" marT="88079" marB="880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2500"/>
                        <a:t>166,207</a:t>
                      </a:r>
                    </a:p>
                  </a:txBody>
                  <a:tcPr marL="176158" marR="176158" marT="88079" marB="880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>
                <a:solidFill>
                  <a:srgbClr val="FFFFFF"/>
                </a:solidFill>
              </a:rPr>
              <a:t>Timing, Clarity, and Final Takeaways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4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Clarity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• Simple feature set: home size, rooms, lot, location, and time.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• Transparent evaluation on a true future test set (2023+).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Timing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• Training restricted to 50,000 rows with a tuned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XGBoost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model.</a:t>
            </a:r>
            <a:endParaRPr lang="en-US" sz="14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• Pipeline is lightweight enough to rerun when the dataset is updated.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Data split strategy (recap)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• Temporal split: train ≤ 2021,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val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= 2022, test ≥ 2023 with 499 held-out test sales.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Final conclusion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Using a leakage-safe temporal split and a gradient-boosted tree model, we substantially improve over a strong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ZIP×year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median baseline on future data, while keeping the pipeline clear, reproducible, and fast enough for practical use.</a:t>
            </a:r>
            <a:endParaRPr lang="en-US" sz="1400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826D7-046F-DEBE-2DDA-6CB2D1BC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AEE512E6-42F3-78EE-F868-0CECDA444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8" name="Graphic 7" descr="Questions">
            <a:extLst>
              <a:ext uri="{FF2B5EF4-FFF2-40B4-BE49-F238E27FC236}">
                <a16:creationId xmlns:a16="http://schemas.microsoft.com/office/drawing/2014/main" id="{1CEDDE6B-40C6-44DC-AB21-109FE839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2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USA Real Estate Price Prediction </vt:lpstr>
      <vt:lpstr>Project Goal</vt:lpstr>
      <vt:lpstr>Data Used — USA Real Estate</vt:lpstr>
      <vt:lpstr>Leakage-Safe Train–Val–Test Split</vt:lpstr>
      <vt:lpstr>Features and Models</vt:lpstr>
      <vt:lpstr>Results — Model Performance</vt:lpstr>
      <vt:lpstr>Diagnostic Plots — Clarity and Reliability </vt:lpstr>
      <vt:lpstr>Error Slices and Interpretability</vt:lpstr>
      <vt:lpstr>Timing, Clarity, and Final Takeaways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126</cp:revision>
  <dcterms:created xsi:type="dcterms:W3CDTF">2013-01-27T09:14:16Z</dcterms:created>
  <dcterms:modified xsi:type="dcterms:W3CDTF">2025-12-01T18:17:00Z</dcterms:modified>
  <cp:category/>
</cp:coreProperties>
</file>